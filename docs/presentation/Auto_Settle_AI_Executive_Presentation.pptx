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0972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🚗 Auto-Settle AI</a:t>
            </a:r>
          </a:p>
          <a:p>
            <a:pPr>
              <a:spcBef>
                <a:spcPts val="800"/>
              </a:spcBef>
              <a:defRPr sz="2200" b="1">
                <a:solidFill>
                  <a:srgbClr val="0284C7"/>
                </a:solidFill>
                <a:latin typeface="Segoe UI"/>
              </a:defRPr>
            </a:pPr>
            <a:r>
              <a:t>Autonomous Video-to-Cash Motor Claims Adjuster</a:t>
            </a:r>
          </a:p>
          <a:p>
            <a:pPr>
              <a:spcBef>
                <a:spcPts val="16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Complete Architecture, Stage 0 to Stage 6 Implementation, and Operational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754880"/>
            <a:ext cx="23317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9377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Stages 0 through 6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End-to-End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4754880"/>
            <a:ext cx="23317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49377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&lt; 90 Seconds Video-to-Cash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Processing SLA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754880"/>
            <a:ext cx="23317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9377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Slashed from ₹3,500 to &lt; ₹5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Surveyor Overhead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4754880"/>
            <a:ext cx="23317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49377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426 / 426 Passing (100%)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Automated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Executive Summary: The Motor Claims Dilemma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Segoe UI"/>
              </a:defRPr>
            </a:pPr>
            <a:r>
              <a:t>Traditional Physical Claims Workflow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80%+ Minor Exterior Damage: </a:t>
            </a:r>
            <a:r>
              <a:rPr b="0">
                <a:solidFill>
                  <a:srgbClr val="64748B"/>
                </a:solidFill>
              </a:rPr>
              <a:t>Scratches, bumper dents, broken mirrors (&lt; ₹25,000 / $300) dominate claim volume.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5 to 7 Day Turnaround: </a:t>
            </a:r>
            <a:r>
              <a:rPr b="0">
                <a:solidFill>
                  <a:srgbClr val="64748B"/>
                </a:solidFill>
              </a:rPr>
              <a:t>Requires scheduling physical human surveyor dispatch and garage inspection.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₹3,000 - ₹5,000 Overhead: </a:t>
            </a:r>
            <a:r>
              <a:rPr b="0">
                <a:solidFill>
                  <a:srgbClr val="64748B"/>
                </a:solidFill>
              </a:rPr>
              <a:t>Surveyor fees, travel, loss adjustment expenses, and administrative paperwork.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Subjective &amp; Fraud-Prone: </a:t>
            </a:r>
            <a:r>
              <a:rPr b="0">
                <a:solidFill>
                  <a:srgbClr val="64748B"/>
                </a:solidFill>
              </a:rPr>
              <a:t>Prone to unrecorded prior damage, collusion, camera zoom cheating, and double-dipping.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Customer Churn: </a:t>
            </a:r>
            <a:r>
              <a:rPr b="0">
                <a:solidFill>
                  <a:srgbClr val="64748B"/>
                </a:solidFill>
              </a:rPr>
              <a:t>Claimants endure lengthy disputes and vehicle downtime for minor touch-ups.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Segoe UI"/>
              </a:defRPr>
            </a:pPr>
            <a:r>
              <a:t>Auto-Settle AI Autonomous Transformation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✔ &lt; 90 Seconds Resolution: </a:t>
            </a:r>
            <a:r>
              <a:rPr b="0">
                <a:solidFill>
                  <a:srgbClr val="64748B"/>
                </a:solidFill>
              </a:rPr>
              <a:t>Claimant uploads a 15s phone walkaround or 3-6 photos; receives instant UPI cash.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✔ &lt; ₹5 Compute Cost: </a:t>
            </a:r>
            <a:r>
              <a:rPr b="0">
                <a:solidFill>
                  <a:srgbClr val="64748B"/>
                </a:solidFill>
              </a:rPr>
              <a:t>Slashes surveyor loss-adjustment expenses by 99.8% via automated computer vision.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✔ Dual-Modality Flexibility: </a:t>
            </a:r>
            <a:r>
              <a:rPr b="0">
                <a:solidFill>
                  <a:srgbClr val="64748B"/>
                </a:solidFill>
              </a:rPr>
              <a:t>Full support for continuous video walkarounds or structured photo packs.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✔ Zero Financial Hallucination: </a:t>
            </a:r>
            <a:r>
              <a:rPr b="0">
                <a:solidFill>
                  <a:srgbClr val="64748B"/>
                </a:solidFill>
              </a:rPr>
              <a:t>Statutory IRDAI / IMT depreciation calculated deterministically with Decimal math.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✔ Forensic Anti-Fraud Defense: </a:t>
            </a:r>
            <a:r>
              <a:rPr b="0">
                <a:solidFill>
                  <a:srgbClr val="64748B"/>
                </a:solidFill>
              </a:rPr>
              <a:t>Pre-existing rust detection (ESC-04), cut firewalls, and tamper-proof HMAC offer cards.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ARCHITECTURAL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5 Fatal Flaws of 'Naive AI' Claims Platforms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1. Static Photo Spoofing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Naive AI: User downloads damaged car photos from Google or snaps a stranger's car in a parking lot.</a:t>
            </a:r>
            <a:br/>
            <a:br/>
            <a:r>
              <a:t>Auto-Settle Fix: Mandatory continuous ByteTrack walkaround or plate-anchored photo pack matched against policy ANPR &amp; HSV paint color.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2. Camera Zoom Cheating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Naive AI: Holding camera 5 cm from a 2 cm scratch makes the entire door look destroyed, triggering false replacement.</a:t>
            </a:r>
            <a:br/>
            <a:br/>
            <a:r>
              <a:t>Auto-Settle Fix: Intersection-over-Part (IoP = Area(D ∩ P)/Area(P)) and Dual-Frame Split locking wide panel surface area.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3. Financial Hallucination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Naive AI: Prompting an LLM to 'estimate repair cost' leads to arbitrary numbers and prompt injection exploits.</a:t>
            </a:r>
            <a:br/>
            <a:br/>
            <a:r>
              <a:t>Auto-Settle Fix: Zero AI financial authority. 100% Python standard library Decimal statutory IMT arithmetic and SQL parts.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4. Dirt &amp; Glare False Positives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Naive AI: Neural networks mistake mud splatters, bird droppings, chalk, or sun glare for deep dent creases.</a:t>
            </a:r>
            <a:br/>
            <a:br/>
            <a:r>
              <a:t>Auto-Settle Fix: Set-of-Marks (SoM) dual crops with 8-contaminant quarantine and bare-metal substrate exposure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862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069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5. Repeat 'Double-Dipping' Fraud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Naive AI: User collects cash payout, leaves scratch unrepaired, and claims again 6 months later.</a:t>
            </a:r>
            <a:br/>
            <a:br/>
            <a:r>
              <a:t>Auto-Settle Fix: SQL Unrepaired Claims Ledger locking settled VIN parts with partial unique indexes (ESC-03).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THE 7 CORE PROCESSING PACKETS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End-to-End System Architecture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05840" cy="274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STAGE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&lt; 180ms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Fast-Fail Gate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Policy SQL, SHA-256 dedupe, ffprobe NLE blacklist, OpenCV luminance &amp; Laplacian sharpness.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645920"/>
            <a:ext cx="1005840" cy="274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6459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&lt; 1.2s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01168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Vehicle Identity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Gate 1 cut firewall, Gate 2 progressive ANPR &amp; HSV paint, Gate 3 ByteTrack keyframe extraction.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1005840" cy="274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6459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&lt; 5ms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Claim Intent NLP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FastEmbed ONNX (MiniLM-L6-v2) intent extraction; quarantines unclaimed pre-existing damage.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46304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6840" y="1645920"/>
            <a:ext cx="1005840" cy="274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16459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&lt; 250ms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01168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Dual-Mask Seg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Carparts-Seg + CarDD-Seg, Shapely GEOS C++ IoP, zoom anti-inflation clamp, 15px cyan SoM crops.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114800"/>
            <a:ext cx="1005840" cy="274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STAGE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114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&lt; 600ms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8056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VLM Inspection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Gemini 2.5 Flash / Ollama dual crops, 8-contaminant quarantine, ESC-04 rust &amp; ESC-06 chassis gates.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393192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11880" y="4114800"/>
            <a:ext cx="1005840" cy="274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STAGE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114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&lt; 50ms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48056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Actuarial Engine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IMT statutory depreciation, continuous dent labor scaling, paint finish multipliers, NCB advisory.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93192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4114800"/>
            <a:ext cx="1005840" cy="274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STAGE 5 &amp;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114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&lt; 120ms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48056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Negotiate &amp; Settle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3-round concession FSM, HMAC offer signing, pro-rata penny balancing, instant voucher &amp; 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SUB-180MS INTAKE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Stage 0: Dual-Modality Fast-Fail Perimeter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1. Policy &amp; Hash Verification</a:t>
            </a:r>
          </a:p>
          <a:p>
            <a:pPr>
              <a:spcBef>
                <a:spcPts val="1000"/>
              </a:spcBef>
              <a:defRPr b="1" sz="1050"/>
            </a:pPr>
            <a:r>
              <a:t>• Inputs: </a:t>
            </a:r>
            <a:r>
              <a:rPr b="0">
                <a:solidFill>
                  <a:srgbClr val="64748B"/>
                </a:solidFill>
              </a:rPr>
              <a:t>policy_id, video or 3-6 photos, optional claim_description, is_demo_rehearsal.</a:t>
            </a:r>
          </a:p>
          <a:p>
            <a:pPr>
              <a:spcBef>
                <a:spcPts val="1000"/>
              </a:spcBef>
              <a:defRPr b="1" sz="1050"/>
            </a:pPr>
            <a:r>
              <a:t>• SQL Status Check: </a:t>
            </a:r>
            <a:r>
              <a:rPr b="0">
                <a:solidFill>
                  <a:srgbClr val="64748B"/>
                </a:solidFill>
              </a:rPr>
              <a:t>Queries PostgreSQL for ACTIVE policy, verifies date coverage, and ensures claims_ytd &lt; max_claims_per_year.</a:t>
            </a:r>
          </a:p>
          <a:p>
            <a:pPr>
              <a:spcBef>
                <a:spcPts val="1000"/>
              </a:spcBef>
              <a:defRPr b="1" sz="1050"/>
            </a:pPr>
            <a:r>
              <a:t>• SHA-256 Deduplication: </a:t>
            </a:r>
            <a:r>
              <a:rPr b="0">
                <a:solidFill>
                  <a:srgbClr val="64748B"/>
                </a:solidFill>
              </a:rPr>
              <a:t>Calculates video hash on the fly. Rejects exact duplicate submissions across history.</a:t>
            </a:r>
          </a:p>
          <a:p>
            <a:pPr>
              <a:spcBef>
                <a:spcPts val="1000"/>
              </a:spcBef>
              <a:defRPr b="1" sz="1050"/>
            </a:pPr>
            <a:r>
              <a:t>• Demo Bypass: </a:t>
            </a:r>
            <a:r>
              <a:rPr b="0">
                <a:solidFill>
                  <a:srgbClr val="64748B"/>
                </a:solidFill>
              </a:rPr>
              <a:t>Allows rehearsal bypass for stress-testing without polluting claims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2. Container Forensics (ffprobe)</a:t>
            </a:r>
          </a:p>
          <a:p>
            <a:pPr>
              <a:spcBef>
                <a:spcPts val="1000"/>
              </a:spcBef>
              <a:defRPr b="1" sz="1050"/>
            </a:pPr>
            <a:r>
              <a:t>• Duration Bounding: </a:t>
            </a:r>
            <a:r>
              <a:rPr b="0">
                <a:solidFill>
                  <a:srgbClr val="64748B"/>
                </a:solidFill>
              </a:rPr>
              <a:t>Strictly enforces 5.0s &lt;= duration &lt;= 60.0s (rejects 2s snippets or 10-minute uploads).</a:t>
            </a:r>
          </a:p>
          <a:p>
            <a:pPr>
              <a:spcBef>
                <a:spcPts val="1000"/>
              </a:spcBef>
              <a:defRPr b="1" sz="1050"/>
            </a:pPr>
            <a:r>
              <a:t>• Resolution Gate: </a:t>
            </a:r>
            <a:r>
              <a:rPr b="0">
                <a:solidFill>
                  <a:srgbClr val="64748B"/>
                </a:solidFill>
              </a:rPr>
              <a:t>Rejects video if width or height &lt; 720p (1280x720) or framerate &lt; 15 fps.</a:t>
            </a:r>
          </a:p>
          <a:p>
            <a:pPr>
              <a:spcBef>
                <a:spcPts val="1000"/>
              </a:spcBef>
              <a:defRPr b="1" sz="1050"/>
            </a:pPr>
            <a:r>
              <a:t>• NLE Editor Blacklist: </a:t>
            </a:r>
            <a:r>
              <a:rPr b="0">
                <a:solidFill>
                  <a:srgbClr val="64748B"/>
                </a:solidFill>
              </a:rPr>
              <a:t>Detects metadata tags from CapCut, Adobe Premiere, InShot, DaVinci Resolve.</a:t>
            </a:r>
          </a:p>
          <a:p>
            <a:pPr>
              <a:spcBef>
                <a:spcPts val="1000"/>
              </a:spcBef>
              <a:defRPr b="1" sz="1050"/>
            </a:pPr>
            <a:r>
              <a:t>• Encoder Whitelist: </a:t>
            </a:r>
            <a:r>
              <a:rPr b="0">
                <a:solidFill>
                  <a:srgbClr val="64748B"/>
                </a:solidFill>
              </a:rPr>
              <a:t>Allows authentic mobile camera encoders (Lavf, libx264, Apple/Android hardware muxers).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3. OpenCV Quality &amp; Remediation</a:t>
            </a:r>
          </a:p>
          <a:p>
            <a:pPr>
              <a:spcBef>
                <a:spcPts val="1000"/>
              </a:spcBef>
              <a:defRPr b="1" sz="1050"/>
            </a:pPr>
            <a:r>
              <a:t>• 5-Frame Grab Sampling: </a:t>
            </a:r>
            <a:r>
              <a:rPr b="0">
                <a:solidFill>
                  <a:srgbClr val="64748B"/>
                </a:solidFill>
              </a:rPr>
              <a:t>Zero-transcode cv2 grab() scan across video quarters.</a:t>
            </a:r>
          </a:p>
          <a:p>
            <a:pPr>
              <a:spcBef>
                <a:spcPts val="1000"/>
              </a:spcBef>
              <a:defRPr b="1" sz="1050"/>
            </a:pPr>
            <a:r>
              <a:t>• Luminance Bounds: </a:t>
            </a:r>
            <a:r>
              <a:rPr b="0">
                <a:solidFill>
                  <a:srgbClr val="64748B"/>
                </a:solidFill>
              </a:rPr>
              <a:t>Mean YUV luminance strictly 45.0 &lt;= Y &lt;= 220.0 (rejects pitch-dark or blinding sun glare).</a:t>
            </a:r>
          </a:p>
          <a:p>
            <a:pPr>
              <a:spcBef>
                <a:spcPts val="1000"/>
              </a:spcBef>
              <a:defRPr b="1" sz="1050"/>
            </a:pPr>
            <a:r>
              <a:t>• Laplacian Sharpness: </a:t>
            </a:r>
            <a:r>
              <a:rPr b="0">
                <a:solidFill>
                  <a:srgbClr val="64748B"/>
                </a:solidFill>
              </a:rPr>
              <a:t>Normalized variance &gt;= 80.0 (rejects out-of-focus or smeared lenses).</a:t>
            </a:r>
          </a:p>
          <a:p>
            <a:pPr>
              <a:spcBef>
                <a:spcPts val="1000"/>
              </a:spcBef>
              <a:defRPr b="1" sz="1050"/>
            </a:pPr>
            <a:r>
              <a:t>• ESC-00 Remediation: </a:t>
            </a:r>
            <a:r>
              <a:rPr b="0">
                <a:solidFill>
                  <a:srgbClr val="64748B"/>
                </a:solidFill>
              </a:rPr>
              <a:t>Returns HTTP 200 with UX guidance directing claimant how to retake video cleanly.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ANTI-FRAUD GROUNDING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Stage 1: Vehicle Identity &amp; Continuity Grounding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Gate 1: Cut &amp; Splice Firewall</a:t>
            </a:r>
          </a:p>
          <a:p>
            <a:pPr>
              <a:spcBef>
                <a:spcPts val="1000"/>
              </a:spcBef>
              <a:defRPr b="1" sz="1050"/>
            </a:pPr>
            <a:r>
              <a:t>• Sub-100ms CPU Decode: </a:t>
            </a:r>
            <a:r>
              <a:rPr b="0">
                <a:solidFill>
                  <a:srgbClr val="64748B"/>
                </a:solidFill>
              </a:rPr>
              <a:t>320x180 fast resolution downsample for real-time video scan.</a:t>
            </a:r>
          </a:p>
          <a:p>
            <a:pPr>
              <a:spcBef>
                <a:spcPts val="1000"/>
              </a:spcBef>
              <a:defRPr b="1" sz="1050"/>
            </a:pPr>
            <a:r>
              <a:t>• 160-bin HSV Correlation: </a:t>
            </a:r>
            <a:r>
              <a:rPr b="0">
                <a:solidFill>
                  <a:srgbClr val="64748B"/>
                </a:solidFill>
              </a:rPr>
              <a:t>Flags hard cut if histogram correlation r &lt; 0.60 between frames.</a:t>
            </a:r>
          </a:p>
          <a:p>
            <a:pPr>
              <a:spcBef>
                <a:spcPts val="1000"/>
              </a:spcBef>
              <a:defRPr b="1" sz="1050"/>
            </a:pPr>
            <a:r>
              <a:t>• PySceneDetect Content: </a:t>
            </a:r>
            <a:r>
              <a:rPr b="0">
                <a:solidFill>
                  <a:srgbClr val="64748B"/>
                </a:solidFill>
              </a:rPr>
              <a:t>Score &gt;= 27.0 combined with r &lt; 0.70 eliminates false flags on fast corner pans.</a:t>
            </a:r>
          </a:p>
          <a:p>
            <a:pPr>
              <a:spcBef>
                <a:spcPts val="1000"/>
              </a:spcBef>
              <a:defRPr b="1" sz="1050"/>
            </a:pPr>
            <a:r>
              <a:t>• Freeze-Frame Gate: </a:t>
            </a:r>
            <a:r>
              <a:rPr b="0">
                <a:solidFill>
                  <a:srgbClr val="64748B"/>
                </a:solidFill>
              </a:rPr>
              <a:t>Flags splice if camera pauses identically for &gt; 15 frames / 750ms.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Gate 2: ANPR &amp; Paint Grounding</a:t>
            </a:r>
          </a:p>
          <a:p>
            <a:pPr>
              <a:spcBef>
                <a:spcPts val="1000"/>
              </a:spcBef>
              <a:defRPr b="1" sz="1050"/>
            </a:pPr>
            <a:r>
              <a:t>• YOLO11m-seg Bumper ROI: </a:t>
            </a:r>
            <a:r>
              <a:rPr b="0">
                <a:solidFill>
                  <a:srgbClr val="64748B"/>
                </a:solidFill>
              </a:rPr>
              <a:t>Constrains OCR to vehicle bumper zones, filtering street signs.</a:t>
            </a:r>
          </a:p>
          <a:p>
            <a:pPr>
              <a:spcBef>
                <a:spcPts val="1000"/>
              </a:spcBef>
              <a:defRPr b="1" sz="1050"/>
            </a:pPr>
            <a:r>
              <a:t>• 2-Line HSRP Merging: </a:t>
            </a:r>
            <a:r>
              <a:rPr b="0">
                <a:solidFill>
                  <a:srgbClr val="64748B"/>
                </a:solidFill>
              </a:rPr>
              <a:t>Merges stacked Indian plate text (e.g., 'DL 01' + 'AB 1234').</a:t>
            </a:r>
          </a:p>
          <a:p>
            <a:pPr>
              <a:spcBef>
                <a:spcPts val="1000"/>
              </a:spcBef>
              <a:defRPr b="1" sz="1050"/>
            </a:pPr>
            <a:r>
              <a:t>• Homoglyph Levenshtein: </a:t>
            </a:r>
            <a:r>
              <a:rPr b="0">
                <a:solidFill>
                  <a:srgbClr val="64748B"/>
                </a:solidFill>
              </a:rPr>
              <a:t>Forgives OCR character swaps (8 &lt;-&gt; B, 0 &lt;-&gt; O, 1 &lt;-&gt; I).</a:t>
            </a:r>
          </a:p>
          <a:p>
            <a:pPr>
              <a:spcBef>
                <a:spcPts val="1000"/>
              </a:spcBef>
              <a:defRPr b="1" sz="1050"/>
            </a:pPr>
            <a:r>
              <a:t>• Dominant Paint HSV: </a:t>
            </a:r>
            <a:r>
              <a:rPr b="0">
                <a:solidFill>
                  <a:srgbClr val="64748B"/>
                </a:solidFill>
              </a:rPr>
              <a:t>Extracts body paint (stripping tires/glass), validates delta E &lt;= 35.0 against policy.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Gate 3: ByteTrack &amp; Keyframes</a:t>
            </a:r>
          </a:p>
          <a:p>
            <a:pPr>
              <a:spcBef>
                <a:spcPts val="1000"/>
              </a:spcBef>
              <a:defRPr b="1" sz="1050"/>
            </a:pPr>
            <a:r>
              <a:t>• Multi-Car Latching: </a:t>
            </a:r>
            <a:r>
              <a:rPr b="0">
                <a:solidFill>
                  <a:srgbClr val="64748B"/>
                </a:solidFill>
              </a:rPr>
              <a:t>Selects largest vehicle candidate (&gt;= 6% area), preventing track jumping in parking lots.</a:t>
            </a:r>
          </a:p>
          <a:p>
            <a:pPr>
              <a:spcBef>
                <a:spcPts val="1000"/>
              </a:spcBef>
              <a:defRPr b="1" sz="1050"/>
            </a:pPr>
            <a:r>
              <a:t>• Macro Zoom Hand-Off: </a:t>
            </a:r>
            <a:r>
              <a:rPr b="0">
                <a:solidFill>
                  <a:srgbClr val="64748B"/>
                </a:solidFill>
              </a:rPr>
              <a:t>Holds track state for 45 frames when camera zooms into 10 cm closeup.</a:t>
            </a:r>
          </a:p>
          <a:p>
            <a:pPr>
              <a:spcBef>
                <a:spcPts val="1000"/>
              </a:spcBef>
              <a:defRPr b="1" sz="1050"/>
            </a:pPr>
            <a:r>
              <a:t>• Reverse Walkaround: </a:t>
            </a:r>
            <a:r>
              <a:rPr b="0">
                <a:solidFill>
                  <a:srgbClr val="64748B"/>
                </a:solidFill>
              </a:rPr>
              <a:t>Dynamically anchors front bumper when plate appears at end of walkaround.</a:t>
            </a:r>
          </a:p>
          <a:p>
            <a:pPr>
              <a:spcBef>
                <a:spcPts val="1000"/>
              </a:spcBef>
              <a:defRPr b="1" sz="1050"/>
            </a:pPr>
            <a:r>
              <a:t>• Canonical Keyframes: </a:t>
            </a:r>
            <a:r>
              <a:rPr b="0">
                <a:solidFill>
                  <a:srgbClr val="64748B"/>
                </a:solidFill>
              </a:rPr>
              <a:t>Extracts front_bumper, side_panel, and damage_closeup_primary scored by sharpness.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ZERO-COST SEMANTIC QUARANTINE (&lt; 5MS)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1 NLP: Dynamic Claim Intent Grounding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Segoe UI"/>
              </a:defRPr>
            </a:pPr>
            <a:r>
              <a:t>Local FastEmbed ONNX Extraction</a:t>
            </a:r>
          </a:p>
          <a:p>
            <a:pPr>
              <a:spcBef>
                <a:spcPts val="1200"/>
              </a:spcBef>
              <a:defRPr b="1" sz="1100"/>
            </a:pPr>
            <a:r>
              <a:t>• Sub-5ms Execution: </a:t>
            </a:r>
            <a:r>
              <a:rPr b="0">
                <a:solidFill>
                  <a:srgbClr val="64748B"/>
                </a:solidFill>
              </a:rPr>
              <a:t>Runs local MiniLM-L6-v2 ONNX runtime—zero external API calls or latency overhead.</a:t>
            </a:r>
          </a:p>
          <a:p>
            <a:pPr>
              <a:spcBef>
                <a:spcPts val="1200"/>
              </a:spcBef>
              <a:defRPr b="1" sz="1100"/>
            </a:pPr>
            <a:r>
              <a:t>• Directional Disambiguation: </a:t>
            </a:r>
            <a:r>
              <a:rPr b="0">
                <a:solidFill>
                  <a:srgbClr val="64748B"/>
                </a:solidFill>
              </a:rPr>
              <a:t>Resolves 'driver side' -&gt; left in India/UK, 'passenger side' -&gt; right, 'front' vs 'rear'.</a:t>
            </a:r>
          </a:p>
          <a:p>
            <a:pPr>
              <a:spcBef>
                <a:spcPts val="1200"/>
              </a:spcBef>
              <a:defRPr b="1" sz="1100"/>
            </a:pPr>
            <a:r>
              <a:t>• Synonym &amp; Slang Resolution: </a:t>
            </a:r>
            <a:r>
              <a:rPr b="0">
                <a:solidFill>
                  <a:srgbClr val="64748B"/>
                </a:solidFill>
              </a:rPr>
              <a:t>Maps colloquialisms ('dicky' -&gt; trunk/tailgate, 'bonnet' -&gt; hood, 'light broken' -&gt; lamp_broken).</a:t>
            </a:r>
          </a:p>
          <a:p>
            <a:pPr>
              <a:spcBef>
                <a:spcPts val="1200"/>
              </a:spcBef>
              <a:defRPr b="1" sz="1100"/>
            </a:pPr>
            <a:r>
              <a:t>• Dynamic Taxonomy Registry: </a:t>
            </a:r>
            <a:r>
              <a:rPr b="0">
                <a:solidFill>
                  <a:srgbClr val="64748B"/>
                </a:solidFill>
              </a:rPr>
              <a:t>Thread-safe singleton mapping text embeddings directly to OEM part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Segoe UI"/>
              </a:defRPr>
            </a:pPr>
            <a:r>
              <a:t>Claimed vs. Unclaimed Quarantine Logic</a:t>
            </a:r>
          </a:p>
          <a:p>
            <a:pPr>
              <a:spcBef>
                <a:spcPts val="1200"/>
              </a:spcBef>
              <a:defRPr b="1" sz="1100"/>
            </a:pPr>
            <a:r>
              <a:t>✔ Claimed Damage -&gt; Billed: </a:t>
            </a:r>
            <a:r>
              <a:rPr b="0">
                <a:solidFill>
                  <a:srgbClr val="64748B"/>
                </a:solidFill>
              </a:rPr>
              <a:t>When claimant reports 'scratched bumper', segmented bumper scratch is admitted to repair schedule.</a:t>
            </a:r>
          </a:p>
          <a:p>
            <a:pPr>
              <a:spcBef>
                <a:spcPts val="1200"/>
              </a:spcBef>
              <a:defRPr b="1" sz="1100"/>
            </a:pPr>
            <a:r>
              <a:t>✔ Unclaimed Damage -&gt; Quarantined: </a:t>
            </a:r>
            <a:r>
              <a:rPr b="0">
                <a:solidFill>
                  <a:srgbClr val="64748B"/>
                </a:solidFill>
              </a:rPr>
              <a:t>Stone chips or pre-existing door scuffs are quarantined to UNCLAIMED_PREEXISTING_DAMAGE.</a:t>
            </a:r>
          </a:p>
          <a:p>
            <a:pPr>
              <a:spcBef>
                <a:spcPts val="1200"/>
              </a:spcBef>
              <a:defRPr b="1" sz="1100"/>
            </a:pPr>
            <a:r>
              <a:t>✔ Bypasses ESC-05 False Fraud: </a:t>
            </a:r>
            <a:r>
              <a:rPr b="0">
                <a:solidFill>
                  <a:srgbClr val="64748B"/>
                </a:solidFill>
              </a:rPr>
              <a:t>Prevents opposite-side pre-existing scratches from triggering false multi-hit fraud rejections.</a:t>
            </a:r>
          </a:p>
          <a:p>
            <a:pPr>
              <a:spcBef>
                <a:spcPts val="1200"/>
              </a:spcBef>
              <a:defRPr b="1" sz="1100"/>
            </a:pPr>
            <a:r>
              <a:t>✔ Anti-Phantom Gate (ESC-07): </a:t>
            </a:r>
            <a:r>
              <a:rPr b="0">
                <a:solidFill>
                  <a:srgbClr val="64748B"/>
                </a:solidFill>
              </a:rPr>
              <a:t>If claimant declares 'dented front door' but computer vision finds no dent, raises ESC-07_CLAIMED_DAMAGE_NOT_FOUND.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SHAPELY GEOS C++ SPATIAL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Stage 2: Conditioned Dual-Mask Part &amp; Damage Segmentation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1. Dual YOLO FP16 Batched</a:t>
            </a:r>
          </a:p>
          <a:p>
            <a:pPr>
              <a:spcBef>
                <a:spcPts val="800"/>
              </a:spcBef>
              <a:defRPr b="1" sz="1000"/>
            </a:pPr>
            <a:r>
              <a:t>• Model A: Carparts-Seg: </a:t>
            </a:r>
            <a:r>
              <a:rPr b="0">
                <a:solidFill>
                  <a:srgbClr val="64748B"/>
                </a:solidFill>
              </a:rPr>
              <a:t>Segments 23 canonical parts (or 33 AutoInspect classes mapped to canonical OEM keys).</a:t>
            </a:r>
          </a:p>
          <a:p>
            <a:pPr>
              <a:spcBef>
                <a:spcPts val="800"/>
              </a:spcBef>
              <a:defRPr b="1" sz="1000"/>
            </a:pPr>
            <a:r>
              <a:t>• Model B: CarDD-Seg: </a:t>
            </a:r>
            <a:r>
              <a:rPr b="0">
                <a:solidFill>
                  <a:srgbClr val="64748B"/>
                </a:solidFill>
              </a:rPr>
              <a:t>Segments 6 damage classes (dent, scratch, crack, glass_shatter, lamp_broken, tire_flat).</a:t>
            </a:r>
          </a:p>
          <a:p>
            <a:pPr>
              <a:spcBef>
                <a:spcPts val="800"/>
              </a:spcBef>
              <a:defRPr b="1" sz="1000"/>
            </a:pPr>
            <a:r>
              <a:t>• Batched FP16 Inference: </a:t>
            </a:r>
            <a:r>
              <a:rPr b="0">
                <a:solidFill>
                  <a:srgbClr val="64748B"/>
                </a:solidFill>
              </a:rPr>
              <a:t>Runs under shared GPU semaphore locking to prevent VRAM spikes.</a:t>
            </a:r>
          </a:p>
          <a:p>
            <a:pPr>
              <a:spcBef>
                <a:spcPts val="800"/>
              </a:spcBef>
              <a:defRPr b="1" sz="1000"/>
            </a:pPr>
            <a:r>
              <a:t>• Strict Taxonomy Check: </a:t>
            </a:r>
            <a:r>
              <a:rPr b="0">
                <a:solidFill>
                  <a:srgbClr val="64748B"/>
                </a:solidFill>
              </a:rPr>
              <a:t>Rejects generic COCO 80-class models to prevent cross-wiring person -&gt; dent.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2. Shapely Spatial Math</a:t>
            </a:r>
          </a:p>
          <a:p>
            <a:pPr>
              <a:spcBef>
                <a:spcPts val="800"/>
              </a:spcBef>
              <a:defRPr b="1" sz="1000"/>
            </a:pPr>
            <a:r>
              <a:t>• IoP Formula: </a:t>
            </a:r>
            <a:r>
              <a:rPr b="0">
                <a:solidFill>
                  <a:srgbClr val="64748B"/>
                </a:solidFill>
              </a:rPr>
              <a:t>IoP = Area(Damage ∩ Part) / Area(Part). Normalizes for camera distance.</a:t>
            </a:r>
          </a:p>
          <a:p>
            <a:pPr>
              <a:spcBef>
                <a:spcPts val="800"/>
              </a:spcBef>
              <a:defRPr b="1" sz="1000"/>
            </a:pPr>
            <a:r>
              <a:t>• Self-Healing Polygons: </a:t>
            </a:r>
            <a:r>
              <a:rPr b="0">
                <a:solidFill>
                  <a:srgbClr val="64748B"/>
                </a:solidFill>
              </a:rPr>
              <a:t>Repairs bow-ties and invalid geometries with .buffer(0).</a:t>
            </a:r>
          </a:p>
          <a:p>
            <a:pPr>
              <a:spcBef>
                <a:spcPts val="800"/>
              </a:spcBef>
              <a:defRPr b="1" sz="1000"/>
            </a:pPr>
            <a:r>
              <a:t>• 10% Spillover Filter: </a:t>
            </a:r>
            <a:r>
              <a:rPr b="0">
                <a:solidFill>
                  <a:srgbClr val="64748B"/>
                </a:solidFill>
              </a:rPr>
              <a:t>Discards 3% bleed onto adjacent panels due to loose boundary masks.</a:t>
            </a:r>
          </a:p>
          <a:p>
            <a:pPr>
              <a:spcBef>
                <a:spcPts val="800"/>
              </a:spcBef>
              <a:defRPr b="1" sz="1000"/>
            </a:pPr>
            <a:r>
              <a:t>• Unary Union Merging: </a:t>
            </a:r>
            <a:r>
              <a:rPr b="0">
                <a:solidFill>
                  <a:srgbClr val="64748B"/>
                </a:solidFill>
              </a:rPr>
              <a:t>Overlapping dent + scratch on same panel are merged (prevents double-counting).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3. Anti-Inflation &amp; SoM</a:t>
            </a:r>
          </a:p>
          <a:p>
            <a:pPr>
              <a:spcBef>
                <a:spcPts val="800"/>
              </a:spcBef>
              <a:defRPr b="1" sz="1000"/>
            </a:pPr>
            <a:r>
              <a:t>• 15px Margin Detection: </a:t>
            </a:r>
            <a:r>
              <a:rPr b="0">
                <a:solidFill>
                  <a:srgbClr val="64748B"/>
                </a:solidFill>
              </a:rPr>
              <a:t>Flags is_complete_panel=False if panel touches image boundary.</a:t>
            </a:r>
          </a:p>
          <a:p>
            <a:pPr>
              <a:spcBef>
                <a:spcPts val="800"/>
              </a:spcBef>
              <a:defRPr b="1" sz="1000"/>
            </a:pPr>
            <a:r>
              <a:t>• Dual-Frame Split: </a:t>
            </a:r>
            <a:r>
              <a:rPr b="0">
                <a:solidFill>
                  <a:srgbClr val="64748B"/>
                </a:solidFill>
              </a:rPr>
              <a:t>Locks IoP from medium shot (0.032); macro closeup used only for VLM micro-depth.</a:t>
            </a:r>
          </a:p>
          <a:p>
            <a:pPr>
              <a:spcBef>
                <a:spcPts val="800"/>
              </a:spcBef>
              <a:defRPr b="1" sz="1000"/>
            </a:pPr>
            <a:r>
              <a:t>• Closeup-Only Clamp: </a:t>
            </a:r>
            <a:r>
              <a:rPr b="0">
                <a:solidFill>
                  <a:srgbClr val="64748B"/>
                </a:solidFill>
              </a:rPr>
              <a:t>Clamps IoP &lt;= 0.25 if only macro closeup exists (blocks false replacement).</a:t>
            </a:r>
          </a:p>
          <a:p>
            <a:pPr>
              <a:spcBef>
                <a:spcPts val="800"/>
              </a:spcBef>
              <a:defRPr b="1" sz="1000"/>
            </a:pPr>
            <a:r>
              <a:t>• 0% Occlusion SoM: </a:t>
            </a:r>
            <a:r>
              <a:rPr b="0">
                <a:solidFill>
                  <a:srgbClr val="64748B"/>
                </a:solidFill>
              </a:rPr>
              <a:t>Renders 15px dilated exterior cyan contour; damage interior is 100% bit-identical.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MULTI-PROVIDER VISION FORENSICS (&lt; 600MS)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Stage 3: Set-of-Marks (SoM) VLM Damage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Decoupled Vision Adapters</a:t>
            </a:r>
          </a:p>
          <a:p>
            <a:pPr>
              <a:spcBef>
                <a:spcPts val="800"/>
              </a:spcBef>
              <a:defRPr b="1" sz="1000"/>
            </a:pPr>
            <a:r>
              <a:t>• Gemini 2.5 Flash: </a:t>
            </a:r>
            <a:r>
              <a:rPr b="0">
                <a:solidFill>
                  <a:srgbClr val="64748B"/>
                </a:solidFill>
              </a:rPr>
              <a:t>Cloud VLM with temp=0.0 and structured Pydantic response schema.</a:t>
            </a:r>
          </a:p>
          <a:p>
            <a:pPr>
              <a:spcBef>
                <a:spcPts val="800"/>
              </a:spcBef>
              <a:defRPr b="1" sz="1000"/>
            </a:pPr>
            <a:r>
              <a:t>• Local Ollama miniCPM-V: </a:t>
            </a:r>
            <a:r>
              <a:rPr b="0">
                <a:solidFill>
                  <a:srgbClr val="64748B"/>
                </a:solidFill>
              </a:rPr>
              <a:t>Async HTTP client over kernel route table (&lt; 0.1ms IP probe).</a:t>
            </a:r>
          </a:p>
          <a:p>
            <a:pPr>
              <a:spcBef>
                <a:spcPts val="800"/>
              </a:spcBef>
              <a:defRPr b="1" sz="1000"/>
            </a:pPr>
            <a:r>
              <a:t>• Circuit Breaker: </a:t>
            </a:r>
            <a:r>
              <a:rPr b="0">
                <a:solidFill>
                  <a:srgbClr val="64748B"/>
                </a:solidFill>
              </a:rPr>
              <a:t>Trips to OPEN on 5 consecutive failures, 30s backoff with randomized jitter.</a:t>
            </a:r>
          </a:p>
          <a:p>
            <a:pPr>
              <a:spcBef>
                <a:spcPts val="800"/>
              </a:spcBef>
              <a:defRPr b="1" sz="1000"/>
            </a:pPr>
            <a:r>
              <a:t>• Resilient JSON Parser: </a:t>
            </a:r>
            <a:r>
              <a:rPr b="0">
                <a:solidFill>
                  <a:srgbClr val="64748B"/>
                </a:solidFill>
              </a:rPr>
              <a:t>Repairs markdown code fences, trailing commas, and Python literal syntax.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8-Contaminant Quarantine</a:t>
            </a:r>
          </a:p>
          <a:p>
            <a:pPr>
              <a:spcBef>
                <a:spcPts val="800"/>
              </a:spcBef>
              <a:defRPr b="1" sz="1000"/>
            </a:pPr>
            <a:r>
              <a:t>• Mud, Dirt &amp; Bird Droppings: </a:t>
            </a:r>
            <a:r>
              <a:rPr b="0">
                <a:solidFill>
                  <a:srgbClr val="64748B"/>
                </a:solidFill>
              </a:rPr>
              <a:t>Diverts surface dirt away from billing schedules.</a:t>
            </a:r>
          </a:p>
          <a:p>
            <a:pPr>
              <a:spcBef>
                <a:spcPts val="800"/>
              </a:spcBef>
              <a:defRPr b="1" sz="1000"/>
            </a:pPr>
            <a:r>
              <a:t>• Chalk, Marker &amp; Decals: </a:t>
            </a:r>
            <a:r>
              <a:rPr b="0">
                <a:solidFill>
                  <a:srgbClr val="64748B"/>
                </a:solidFill>
              </a:rPr>
              <a:t>Filters deliberate sticker spoofing or workshop chalk outlines.</a:t>
            </a:r>
          </a:p>
          <a:p>
            <a:pPr>
              <a:spcBef>
                <a:spcPts val="800"/>
              </a:spcBef>
              <a:defRPr b="1" sz="1000"/>
            </a:pPr>
            <a:r>
              <a:t>• Specular Glare &amp; Reflections: </a:t>
            </a:r>
            <a:r>
              <a:rPr b="0">
                <a:solidFill>
                  <a:srgbClr val="64748B"/>
                </a:solidFill>
              </a:rPr>
              <a:t>Filters sunlight reflections that fool deep segmenters.</a:t>
            </a:r>
          </a:p>
          <a:p>
            <a:pPr>
              <a:spcBef>
                <a:spcPts val="800"/>
              </a:spcBef>
              <a:defRPr b="1" sz="1000"/>
            </a:pPr>
            <a:r>
              <a:t>• Plastic Rust Invariant: </a:t>
            </a:r>
            <a:r>
              <a:rPr b="0">
                <a:solidFill>
                  <a:srgbClr val="64748B"/>
                </a:solidFill>
              </a:rPr>
              <a:t>Overrides VLM plastic bumper rust hallucination to False (plastic cannot rust).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Segoe UI"/>
              </a:defRPr>
            </a:pPr>
            <a:r>
              <a:t>Forensic Fraud Gates</a:t>
            </a:r>
          </a:p>
          <a:p>
            <a:pPr>
              <a:spcBef>
                <a:spcPts val="800"/>
              </a:spcBef>
              <a:defRPr b="1" sz="1000"/>
            </a:pPr>
            <a:r>
              <a:t>• ESC-04 Pre-Existing Rust: </a:t>
            </a:r>
            <a:r>
              <a:rPr b="0">
                <a:solidFill>
                  <a:srgbClr val="64748B"/>
                </a:solidFill>
              </a:rPr>
              <a:t>Halts claim if bare-metal orange rust or flaking body putty is detected.</a:t>
            </a:r>
          </a:p>
          <a:p>
            <a:pPr>
              <a:spcBef>
                <a:spcPts val="800"/>
              </a:spcBef>
              <a:defRPr b="1" sz="1000"/>
            </a:pPr>
            <a:r>
              <a:t>• ESC-06 Chassis Misalignment: </a:t>
            </a:r>
            <a:r>
              <a:rPr b="0">
                <a:solidFill>
                  <a:srgbClr val="64748B"/>
                </a:solidFill>
              </a:rPr>
              <a:t>Halts claim if structural frame shift or uneven panel gaps are visible.</a:t>
            </a:r>
          </a:p>
          <a:p>
            <a:pPr>
              <a:spcBef>
                <a:spcPts val="800"/>
              </a:spcBef>
              <a:defRPr b="1" sz="1000"/>
            </a:pPr>
            <a:r>
              <a:t>• ESC-07 Zero Real Damage: </a:t>
            </a:r>
            <a:r>
              <a:rPr b="0">
                <a:solidFill>
                  <a:srgbClr val="64748B"/>
                </a:solidFill>
              </a:rPr>
              <a:t>Halts claim if all detections were quarantined as glare or dirt.</a:t>
            </a:r>
          </a:p>
          <a:p>
            <a:pPr>
              <a:spcBef>
                <a:spcPts val="800"/>
              </a:spcBef>
              <a:defRPr b="1" sz="1000"/>
            </a:pPr>
            <a:r>
              <a:t>• Depth Grades (L1 - L5): </a:t>
            </a:r>
            <a:r>
              <a:rPr b="0">
                <a:solidFill>
                  <a:srgbClr val="64748B"/>
                </a:solidFill>
              </a:rPr>
              <a:t>Assigns physical depth: L1 scuff, L2 scratch, L3 ding (PDR), L4 crease, L5 tear.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STATUTORY INDIAN MOTOR TARIFF (IMT) &amp; IRDAI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Stage 4: Deterministic Actuarial Pricing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Statutory Depreciation</a:t>
            </a:r>
          </a:p>
          <a:p>
            <a:pPr>
              <a:spcBef>
                <a:spcPts val="800"/>
              </a:spcBef>
              <a:defRPr b="1" sz="950"/>
            </a:pPr>
            <a:r>
              <a:t>• 100% Decimal Math: </a:t>
            </a:r>
            <a:r>
              <a:rPr b="0">
                <a:solidFill>
                  <a:srgbClr val="64748B"/>
                </a:solidFill>
              </a:rPr>
              <a:t>Zero float rounding errors; strictly ROUND_HALF_UP.</a:t>
            </a:r>
          </a:p>
          <a:p>
            <a:pPr>
              <a:spcBef>
                <a:spcPts val="800"/>
              </a:spcBef>
              <a:defRPr b="1" sz="950"/>
            </a:pPr>
            <a:r>
              <a:t>• Materials Schedule: </a:t>
            </a:r>
            <a:r>
              <a:rPr b="0">
                <a:solidFill>
                  <a:srgbClr val="64748B"/>
                </a:solidFill>
              </a:rPr>
              <a:t>Rubber/Plastic flat 50%, Glass 0%, Fiberglass 30%.</a:t>
            </a:r>
          </a:p>
          <a:p>
            <a:pPr>
              <a:spcBef>
                <a:spcPts val="800"/>
              </a:spcBef>
              <a:defRPr b="1" sz="950"/>
            </a:pPr>
            <a:r>
              <a:t>• Metal Age Brackets: </a:t>
            </a:r>
            <a:r>
              <a:rPr b="0">
                <a:solidFill>
                  <a:srgbClr val="64748B"/>
                </a:solidFill>
              </a:rPr>
              <a:t>&lt;6m: 0%, 6m-1y: 5%, 1-2y: 10%, 2-3y: 15%, 3-4y: 25%, 4-5y: 35%, 5-10y: 40%, &gt;10y: 50%.</a:t>
            </a:r>
          </a:p>
          <a:p>
            <a:pPr>
              <a:spcBef>
                <a:spcPts val="800"/>
              </a:spcBef>
              <a:defRPr b="1" sz="950"/>
            </a:pPr>
            <a:r>
              <a:t>• Zero-Dep Rider: </a:t>
            </a:r>
            <a:r>
              <a:rPr b="0">
                <a:solidFill>
                  <a:srgbClr val="64748B"/>
                </a:solidFill>
              </a:rPr>
              <a:t>Forces part depreciation to 0.00% if policy rider active.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Labor &amp; Paint Rates</a:t>
            </a:r>
          </a:p>
          <a:p>
            <a:pPr>
              <a:spcBef>
                <a:spcPts val="800"/>
              </a:spcBef>
              <a:defRPr b="1" sz="950"/>
            </a:pPr>
            <a:r>
              <a:t>• Continuous Dent Scaling: </a:t>
            </a:r>
            <a:r>
              <a:rPr b="0">
                <a:solidFill>
                  <a:srgbClr val="64748B"/>
                </a:solidFill>
              </a:rPr>
              <a:t>gamma(IoP) = min(2.0, 1.0 + IoP * 2.5). Scales labor dynamically.</a:t>
            </a:r>
          </a:p>
          <a:p>
            <a:pPr>
              <a:spcBef>
                <a:spcPts val="800"/>
              </a:spcBef>
              <a:defRPr b="1" sz="950"/>
            </a:pPr>
            <a:r>
              <a:t>• Repair vs Replace: </a:t>
            </a:r>
            <a:r>
              <a:rPr b="0">
                <a:solidFill>
                  <a:srgbClr val="64748B"/>
                </a:solidFill>
              </a:rPr>
              <a:t>Replaced if IoP &gt; 0.30, L5 tear, or unrepairable lamp assembly.</a:t>
            </a:r>
          </a:p>
          <a:p>
            <a:pPr>
              <a:spcBef>
                <a:spcPts val="800"/>
              </a:spcBef>
              <a:defRPr b="1" sz="950"/>
            </a:pPr>
            <a:r>
              <a:t>• Paint Finish Multipliers: </a:t>
            </a:r>
            <a:r>
              <a:rPr b="0">
                <a:solidFill>
                  <a:srgbClr val="64748B"/>
                </a:solidFill>
              </a:rPr>
              <a:t>Solid 1.0x, Metallic 1.25x, Pearl 1.35x finish.</a:t>
            </a:r>
          </a:p>
          <a:p>
            <a:pPr>
              <a:spcBef>
                <a:spcPts val="800"/>
              </a:spcBef>
              <a:defRPr b="1" sz="950"/>
            </a:pPr>
            <a:r>
              <a:t>• Blend Overlap Discount: </a:t>
            </a:r>
            <a:r>
              <a:rPr b="0">
                <a:solidFill>
                  <a:srgbClr val="64748B"/>
                </a:solidFill>
              </a:rPr>
              <a:t>Primary 100%, secondary adjacent 75%, tertiary+ 60%.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Excess &amp; NCB Advisory</a:t>
            </a:r>
          </a:p>
          <a:p>
            <a:pPr>
              <a:spcBef>
                <a:spcPts val="800"/>
              </a:spcBef>
              <a:defRPr b="1" sz="950"/>
            </a:pPr>
            <a:r>
              <a:t>• Compulsory Excess: </a:t>
            </a:r>
            <a:r>
              <a:rPr b="0">
                <a:solidFill>
                  <a:srgbClr val="64748B"/>
                </a:solidFill>
              </a:rPr>
              <a:t>&lt;= 1500cc: ₹1,000; &gt; 1500cc (e.g. Fortuner): ₹2,000.</a:t>
            </a:r>
          </a:p>
          <a:p>
            <a:pPr>
              <a:spcBef>
                <a:spcPts val="800"/>
              </a:spcBef>
              <a:defRPr b="1" sz="950"/>
            </a:pPr>
            <a:r>
              <a:t>• Salvage Deduction: </a:t>
            </a:r>
            <a:r>
              <a:rPr b="0">
                <a:solidFill>
                  <a:srgbClr val="64748B"/>
                </a:solidFill>
              </a:rPr>
              <a:t>Replaced metal parts: 5% scrap recovery deducted.</a:t>
            </a:r>
          </a:p>
          <a:p>
            <a:pPr>
              <a:spcBef>
                <a:spcPts val="800"/>
              </a:spcBef>
              <a:defRPr b="1" sz="950"/>
            </a:pPr>
            <a:r>
              <a:t>• NCB Step-Back Warning: </a:t>
            </a:r>
            <a:r>
              <a:rPr b="0">
                <a:solidFill>
                  <a:srgbClr val="64748B"/>
                </a:solidFill>
              </a:rPr>
              <a:t>Calculates 3-year loss of renewal bonus discount.</a:t>
            </a:r>
          </a:p>
          <a:p>
            <a:pPr>
              <a:spcBef>
                <a:spcPts val="800"/>
              </a:spcBef>
              <a:defRPr b="1" sz="950"/>
            </a:pPr>
            <a:r>
              <a:t>• Economic Utility: </a:t>
            </a:r>
            <a:r>
              <a:rPr b="0">
                <a:solidFill>
                  <a:srgbClr val="64748B"/>
                </a:solidFill>
              </a:rPr>
              <a:t>Advises PAY_OUT_OF_POCKET if future NCB penalty &gt; net payout.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6916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Cash Settlement Band</a:t>
            </a:r>
          </a:p>
          <a:p>
            <a:pPr>
              <a:spcBef>
                <a:spcPts val="800"/>
              </a:spcBef>
              <a:defRPr b="1" sz="950"/>
            </a:pPr>
            <a:r>
              <a:t>• O_0 (Initial Offer): </a:t>
            </a:r>
            <a:r>
              <a:rPr b="0">
                <a:solidFill>
                  <a:srgbClr val="64748B"/>
                </a:solidFill>
              </a:rPr>
              <a:t>75% of Net Garage Repair liability.</a:t>
            </a:r>
          </a:p>
          <a:p>
            <a:pPr>
              <a:spcBef>
                <a:spcPts val="800"/>
              </a:spcBef>
              <a:defRPr b="1" sz="950"/>
            </a:pPr>
            <a:r>
              <a:t>• O_target (Fair Target): </a:t>
            </a:r>
            <a:r>
              <a:rPr b="0">
                <a:solidFill>
                  <a:srgbClr val="64748B"/>
                </a:solidFill>
              </a:rPr>
              <a:t>85% of Net Garage Repair liability.</a:t>
            </a:r>
          </a:p>
          <a:p>
            <a:pPr>
              <a:spcBef>
                <a:spcPts val="800"/>
              </a:spcBef>
              <a:defRPr b="1" sz="950"/>
            </a:pPr>
            <a:r>
              <a:t>• O_max (Autonomous Cap): </a:t>
            </a:r>
            <a:r>
              <a:rPr b="0">
                <a:solidFill>
                  <a:srgbClr val="64748B"/>
                </a:solidFill>
              </a:rPr>
              <a:t>min(₹25,000, 95% of Net Garage Repair).</a:t>
            </a:r>
          </a:p>
          <a:p>
            <a:pPr>
              <a:spcBef>
                <a:spcPts val="800"/>
              </a:spcBef>
              <a:defRPr b="1" sz="950"/>
            </a:pPr>
            <a:r>
              <a:t>• ESC-08 Ceiling Guard: </a:t>
            </a:r>
            <a:r>
              <a:rPr b="0">
                <a:solidFill>
                  <a:srgbClr val="64748B"/>
                </a:solidFill>
              </a:rPr>
              <a:t>Claims &gt; ₹25,000 escalate to Senior Adjuster with estimate saved.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CONCESSION MATH &amp; CRYPTOGRAPHIC HMAC-SHA256 SIGNING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Stage 5: Bounded Negotiation Chatbot FSM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HMAC-SHA256 Offer Signing</a:t>
            </a:r>
          </a:p>
          <a:p>
            <a:pPr>
              <a:spcBef>
                <a:spcPts val="1000"/>
              </a:spcBef>
              <a:defRPr b="1" sz="1000"/>
            </a:pPr>
            <a:r>
              <a:t>• Tamper-Proof Payload: </a:t>
            </a:r>
            <a:r>
              <a:rPr b="0">
                <a:solidFill>
                  <a:srgbClr val="64748B"/>
                </a:solidFill>
              </a:rPr>
              <a:t>Every card signed over {claim_id}:{round}:{amount_inr}:{expires_at}.</a:t>
            </a:r>
          </a:p>
          <a:p>
            <a:pPr>
              <a:spcBef>
                <a:spcPts val="1000"/>
              </a:spcBef>
              <a:defRPr b="1" sz="1000"/>
            </a:pPr>
            <a:r>
              <a:t>• Zero Client Trust: </a:t>
            </a:r>
            <a:r>
              <a:rPr b="0">
                <a:solidFill>
                  <a:srgbClr val="64748B"/>
                </a:solidFill>
              </a:rPr>
              <a:t>Frontend DevTools tampering causes instant HTTP 403 InvalidOfferTokenError.</a:t>
            </a:r>
          </a:p>
          <a:p>
            <a:pPr>
              <a:spcBef>
                <a:spcPts val="1000"/>
              </a:spcBef>
              <a:defRPr b="1" sz="1000"/>
            </a:pPr>
            <a:r>
              <a:t>• 24-Hour Expiration: </a:t>
            </a:r>
            <a:r>
              <a:rPr b="0">
                <a:solidFill>
                  <a:srgbClr val="64748B"/>
                </a:solidFill>
              </a:rPr>
              <a:t>Offers expire automatically after 24 hours to prevent stale acceptance.</a:t>
            </a:r>
          </a:p>
          <a:p>
            <a:pPr>
              <a:spcBef>
                <a:spcPts val="1000"/>
              </a:spcBef>
              <a:defRPr b="1" sz="1000"/>
            </a:pPr>
            <a:r>
              <a:t>• State Isolation: </a:t>
            </a:r>
            <a:r>
              <a:rPr b="0">
                <a:solidFill>
                  <a:srgbClr val="64748B"/>
                </a:solidFill>
              </a:rPr>
              <a:t>Each round updates Redis cache and PostgreSQL negotiation_session atomically.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3-Round Concession Math</a:t>
            </a:r>
          </a:p>
          <a:p>
            <a:pPr>
              <a:spcBef>
                <a:spcPts val="1000"/>
              </a:spcBef>
              <a:defRPr b="1" sz="1000"/>
            </a:pPr>
            <a:r>
              <a:t>• Dynamic Alpha Decay: </a:t>
            </a:r>
            <a:r>
              <a:rPr b="0">
                <a:solidFill>
                  <a:srgbClr val="64748B"/>
                </a:solidFill>
              </a:rPr>
              <a:t>alpha_1 = 0.50, alpha_2 = 0.35, alpha_3 = 0.25 (decreasing concessions).</a:t>
            </a:r>
          </a:p>
          <a:p>
            <a:pPr>
              <a:spcBef>
                <a:spcPts val="1000"/>
              </a:spcBef>
              <a:defRPr b="1" sz="1000"/>
            </a:pPr>
            <a:r>
              <a:t>• Concession Formula: </a:t>
            </a:r>
            <a:r>
              <a:rPr b="0">
                <a:solidFill>
                  <a:srgbClr val="64748B"/>
                </a:solidFill>
              </a:rPr>
              <a:t>O_r = O_{r-1} + alpha_r * RationaleScore * min(Counter - O_{r-1}, O_target - O_{r-1}).</a:t>
            </a:r>
          </a:p>
          <a:p>
            <a:pPr>
              <a:spcBef>
                <a:spcPts val="1000"/>
              </a:spcBef>
              <a:defRPr b="1" sz="1000"/>
            </a:pPr>
            <a:r>
              <a:t>• Anchor Inversion Guard: </a:t>
            </a:r>
            <a:r>
              <a:rPr b="0">
                <a:solidFill>
                  <a:srgbClr val="64748B"/>
                </a:solidFill>
              </a:rPr>
              <a:t>If user asks &lt;= O_current (typo), clamps to O_current and explains.</a:t>
            </a:r>
          </a:p>
          <a:p>
            <a:pPr>
              <a:spcBef>
                <a:spcPts val="1000"/>
              </a:spcBef>
              <a:defRPr b="1" sz="1000"/>
            </a:pPr>
            <a:r>
              <a:t>• Round 3 Terminal Lock: </a:t>
            </a:r>
            <a:r>
              <a:rPr b="0">
                <a:solidFill>
                  <a:srgbClr val="64748B"/>
                </a:solidFill>
              </a:rPr>
              <a:t>Final take-it-or-leave-it offer locked strictly to &lt;= O_max &lt;= ₹25,000.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Vernacular &amp; Hinglish NLP</a:t>
            </a:r>
          </a:p>
          <a:p>
            <a:pPr>
              <a:spcBef>
                <a:spcPts val="1000"/>
              </a:spcBef>
              <a:defRPr b="1" sz="1000"/>
            </a:pPr>
            <a:r>
              <a:t>• Currency Extraction: </a:t>
            </a:r>
            <a:r>
              <a:rPr b="0">
                <a:solidFill>
                  <a:srgbClr val="64748B"/>
                </a:solidFill>
              </a:rPr>
              <a:t>Parses INR across '₹15,000', 'Rs 12500', '18000 bucks', 'INR 14,000.50'.</a:t>
            </a:r>
          </a:p>
          <a:p>
            <a:pPr>
              <a:spcBef>
                <a:spcPts val="1000"/>
              </a:spcBef>
              <a:defRPr b="1" sz="1000"/>
            </a:pPr>
            <a:r>
              <a:t>• Relative Deltas: </a:t>
            </a:r>
            <a:r>
              <a:rPr b="0">
                <a:solidFill>
                  <a:srgbClr val="64748B"/>
                </a:solidFill>
              </a:rPr>
              <a:t>Understands '+2000', 'add 1500', 'increase by Rs 2,500'.</a:t>
            </a:r>
          </a:p>
          <a:p>
            <a:pPr>
              <a:spcBef>
                <a:spcPts val="1000"/>
              </a:spcBef>
              <a:defRPr b="1" sz="1000"/>
            </a:pPr>
            <a:r>
              <a:t>• Hinglish Keywords: </a:t>
            </a:r>
            <a:r>
              <a:rPr b="0">
                <a:solidFill>
                  <a:srgbClr val="64748B"/>
                </a:solidFill>
              </a:rPr>
              <a:t>Detects 'paisa badhao bohot kam hai', 'kharcha zyada hai', 'theek hai manzoor'.</a:t>
            </a:r>
          </a:p>
          <a:p>
            <a:pPr>
              <a:spcBef>
                <a:spcPts val="1000"/>
              </a:spcBef>
              <a:defRPr b="1" sz="1000"/>
            </a:pPr>
            <a:r>
              <a:t>• Template Presenter: </a:t>
            </a:r>
            <a:r>
              <a:rPr b="0">
                <a:solidFill>
                  <a:srgbClr val="64748B"/>
                </a:solidFill>
              </a:rPr>
              <a:t>100% deterministic conversational template fallback (zero LLM drift).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PENNY-BALANCED APPORTIONMENT &amp; LEDGER COMMITMENTS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Stage 6: Settlement Router, Apportionment &amp; Dossier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Pro-Rata Apportionment</a:t>
            </a:r>
          </a:p>
          <a:p>
            <a:pPr>
              <a:spcBef>
                <a:spcPts val="1000"/>
              </a:spcBef>
              <a:defRPr b="1" sz="1000"/>
            </a:pPr>
            <a:r>
              <a:t>• Multi-Part Allocation: </a:t>
            </a:r>
            <a:r>
              <a:rPr b="0">
                <a:solidFill>
                  <a:srgbClr val="64748B"/>
                </a:solidFill>
              </a:rPr>
              <a:t>Distributes agreed cash lump-sum (e.g. ₹12,500) proportionally across damaged parts.</a:t>
            </a:r>
          </a:p>
          <a:p>
            <a:pPr>
              <a:spcBef>
                <a:spcPts val="1000"/>
              </a:spcBef>
              <a:defRPr b="1" sz="1000"/>
            </a:pPr>
            <a:r>
              <a:t>• Penny Balancing Formula: </a:t>
            </a:r>
            <a:r>
              <a:rPr b="0">
                <a:solidFill>
                  <a:srgbClr val="64748B"/>
                </a:solidFill>
              </a:rPr>
              <a:t>S_i = floor(O_settled * E_i / E_gross). Residual paise allocated to highest-value part.</a:t>
            </a:r>
          </a:p>
          <a:p>
            <a:pPr>
              <a:spcBef>
                <a:spcPts val="1000"/>
              </a:spcBef>
              <a:defRPr b="1" sz="1000"/>
            </a:pPr>
            <a:r>
              <a:t>• Bit-Level Sum Invariant: </a:t>
            </a:r>
            <a:r>
              <a:rPr b="0">
                <a:solidFill>
                  <a:srgbClr val="64748B"/>
                </a:solidFill>
              </a:rPr>
              <a:t>Guarantees sum(S_i) == O_settled down to exact 0.00 paise mark.</a:t>
            </a:r>
          </a:p>
          <a:p>
            <a:pPr>
              <a:spcBef>
                <a:spcPts val="1000"/>
              </a:spcBef>
              <a:defRPr b="1" sz="1000"/>
            </a:pPr>
            <a:r>
              <a:t>• Audit Compliance: </a:t>
            </a:r>
            <a:r>
              <a:rPr b="0">
                <a:solidFill>
                  <a:srgbClr val="64748B"/>
                </a:solidFill>
              </a:rPr>
              <a:t>Ensures precise accounting entries for insurer financial ledgers.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Ledger &amp; Instant Vouchers</a:t>
            </a:r>
          </a:p>
          <a:p>
            <a:pPr>
              <a:spcBef>
                <a:spcPts val="1000"/>
              </a:spcBef>
              <a:defRPr b="1" sz="1000"/>
            </a:pPr>
            <a:r>
              <a:t>• Unrepaired Ledger Write: </a:t>
            </a:r>
            <a:r>
              <a:rPr b="0">
                <a:solidFill>
                  <a:srgbClr val="64748B"/>
                </a:solidFill>
              </a:rPr>
              <a:t>Commits each settled part to unrepaired_claims_ledger in PostgreSQL (locks ESC-03).</a:t>
            </a:r>
          </a:p>
          <a:p>
            <a:pPr>
              <a:spcBef>
                <a:spcPts val="1000"/>
              </a:spcBef>
              <a:defRPr b="1" sz="1000"/>
            </a:pPr>
            <a:r>
              <a:t>• Instant Voucher Issuance: </a:t>
            </a:r>
            <a:r>
              <a:rPr b="0">
                <a:solidFill>
                  <a:srgbClr val="64748B"/>
                </a:solidFill>
              </a:rPr>
              <a:t>Generates VOUCHER-AUTOSETTLE-YYYYMMDD-XXXX with simulated IMPS payout reference.</a:t>
            </a:r>
          </a:p>
          <a:p>
            <a:pPr>
              <a:spcBef>
                <a:spcPts val="1000"/>
              </a:spcBef>
              <a:defRPr b="1" sz="1000"/>
            </a:pPr>
            <a:r>
              <a:t>• Indian Rupee Words: </a:t>
            </a:r>
            <a:r>
              <a:rPr b="0">
                <a:solidFill>
                  <a:srgbClr val="64748B"/>
                </a:solidFill>
              </a:rPr>
              <a:t>Formats amount to text (e.g. 'Twelve Thousand Five Hundred Rupees Only').</a:t>
            </a:r>
          </a:p>
          <a:p>
            <a:pPr>
              <a:spcBef>
                <a:spcPts val="1000"/>
              </a:spcBef>
              <a:defRPr b="1" sz="1000"/>
            </a:pPr>
            <a:r>
              <a:t>• SHA-256 Digital Seal: </a:t>
            </a:r>
            <a:r>
              <a:rPr b="0">
                <a:solidFill>
                  <a:srgbClr val="64748B"/>
                </a:solidFill>
              </a:rPr>
              <a:t>Seals voucher tamper-proof with digital certificate hash.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Escalation &amp; PDF Service</a:t>
            </a:r>
          </a:p>
          <a:p>
            <a:pPr>
              <a:spcBef>
                <a:spcPts val="1000"/>
              </a:spcBef>
              <a:defRPr b="1" sz="1000"/>
            </a:pPr>
            <a:r>
              <a:t>• Cashless Garage Routing: </a:t>
            </a:r>
            <a:r>
              <a:rPr b="0">
                <a:solidFill>
                  <a:srgbClr val="64748B"/>
                </a:solidFill>
              </a:rPr>
              <a:t>Claimant rejection (ESC-USER-REJECT) routes claim to authorized cashless workshop.</a:t>
            </a:r>
          </a:p>
          <a:p>
            <a:pPr>
              <a:spcBef>
                <a:spcPts val="1000"/>
              </a:spcBef>
              <a:defRPr b="1" sz="1000"/>
            </a:pPr>
            <a:r>
              <a:t>• ReportLab PDF Service: </a:t>
            </a:r>
            <a:r>
              <a:rPr b="0">
                <a:solidFill>
                  <a:srgbClr val="64748B"/>
                </a:solidFill>
              </a:rPr>
              <a:t>Generates vector printable PDF Settlement Certificate (/voucher/pdf).</a:t>
            </a:r>
          </a:p>
          <a:p>
            <a:pPr>
              <a:spcBef>
                <a:spcPts val="1000"/>
              </a:spcBef>
              <a:defRPr b="1" sz="1000"/>
            </a:pPr>
            <a:r>
              <a:t>• Surveyor Review Dossier: </a:t>
            </a:r>
            <a:r>
              <a:rPr b="0">
                <a:solidFill>
                  <a:srgbClr val="64748B"/>
                </a:solidFill>
              </a:rPr>
              <a:t>Generates comprehensive PDF Adjuster Dossier (/dossier/pdf) on escalation.</a:t>
            </a:r>
          </a:p>
          <a:p>
            <a:pPr>
              <a:spcBef>
                <a:spcPts val="1000"/>
              </a:spcBef>
              <a:defRPr b="1" sz="1000"/>
            </a:pPr>
            <a:r>
              <a:t>• 6-Point Physical Checklist: </a:t>
            </a:r>
            <a:r>
              <a:rPr b="0">
                <a:solidFill>
                  <a:srgbClr val="64748B"/>
                </a:solidFill>
              </a:rPr>
              <a:t>Includes standardized surveyor checklist: odometer, VIN stamp, frame alignment.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AUTONOMOUS RISK CONTAINMENT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Master Anti-Fraud &amp; Escalation Taxonomy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59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286000"/>
                <a:gridCol w="3931920"/>
                <a:gridCol w="1097280"/>
                <a:gridCol w="1947672"/>
              </a:tblGrid>
              <a:tr h="4038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Escalation Code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Failure Category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Trigger Condition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System Action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ESC-00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Perimeter Video / Photo 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Dark, blurry, corrupt, or CapCut NLE edit metadata 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Stage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HTTP 200 + UX Recapture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ESC-01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Cut / Splice Firewall Breach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Video jump cuts, camera splices, or frozen frames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Stage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Hard Rejection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ESC-02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Vehicle Identity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License plate OCR or paint HSV color mismatch against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Stage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Hard Rejection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ESC-03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Repeat 'Double-Dipping' Claim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Part already settled for cash in unrepaired_claims_ledger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Stage 2 /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Hard Fraud Halt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ESC-04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Pre-Existing Rust / Oxidation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VLM detects bare-metal orange rust or flaking old putty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Stage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Pre-Existing Fraud Halt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ESC-05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Opposite-Side Multi-Hit Fraud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Unrelated damages on both left and right flanks simultaneously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Stage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Desk Adjuster Escalation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ESC-06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Safety-Critical Structural Damage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Glass shatter, wheel rim deformation, or chassis frame 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Stage 2 /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Physical Surveyor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ESC-07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Zero Real Damage Detected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All detections quarantined as dirt/glare or intent not found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Stage 2 / 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Desk Adjuster 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ESC-08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Autonomous Financial Ceiling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Net repair estimate exceeds self-settlement cap (&gt; ₹25,000)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Stage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Senior Adjuster Handoff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ESC-09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Catalogue Part Missing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Discontinued part missing from OEM database &amp; segment fallback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Stage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Procurement 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ESC-USER-REJECT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Cashless Garage 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Claimant declines cash offers; prefers authorized garage repair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Stage 5 /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Cashless Garage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426 AUTOMATED TESTS • ZERO REGRESSION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Testing Rigor, CI Gates &amp; Verification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146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59669"/>
                </a:solidFill>
                <a:latin typeface="Segoe UI"/>
              </a:defRPr>
            </a:pPr>
            <a:r>
              <a:t>426 / 426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Total Automated Pytest Tests (100% Pass)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25146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5544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20 / 20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E2E Curated Scenarios Passed (100%)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25146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544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Segoe UI"/>
              </a:defRPr>
            </a:pPr>
            <a:r>
              <a:t>0.00%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SoM Interior Damage Occlusion (Bit-Level)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37160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371600"/>
            <a:ext cx="25146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5544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59669"/>
                </a:solidFill>
                <a:latin typeface="Segoe UI"/>
              </a:defRPr>
            </a:pPr>
            <a:r>
              <a:t>0 Failures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Zero Floating-Point Math on Financial Decisions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83464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Comprehensive Test Suite Breakdown</a:t>
            </a:r>
          </a:p>
          <a:p>
            <a:pPr>
              <a:spcBef>
                <a:spcPts val="400"/>
              </a:spcBef>
              <a:defRPr b="1" sz="950"/>
            </a:pPr>
            <a:r>
              <a:t>• Stage 0 Suite: </a:t>
            </a:r>
            <a:r>
              <a:rPr b="0">
                <a:solidFill>
                  <a:srgbClr val="64748B"/>
                </a:solidFill>
              </a:rPr>
              <a:t>29 tests covering policy caps, SHA-256 dedupe, ffprobe NLE blacklist, photo packs.</a:t>
            </a:r>
          </a:p>
          <a:p>
            <a:pPr>
              <a:spcBef>
                <a:spcPts val="400"/>
              </a:spcBef>
              <a:defRPr b="1" sz="950"/>
            </a:pPr>
            <a:r>
              <a:t>• Stage 1 Suite: </a:t>
            </a:r>
            <a:r>
              <a:rPr b="0">
                <a:solidFill>
                  <a:srgbClr val="64748B"/>
                </a:solidFill>
              </a:rPr>
              <a:t>23 tests covering cut detection, 2-line HSRP OCR, color grounding, and ByteTrack.</a:t>
            </a:r>
          </a:p>
          <a:p>
            <a:pPr>
              <a:spcBef>
                <a:spcPts val="400"/>
              </a:spcBef>
              <a:defRPr b="1" sz="950"/>
            </a:pPr>
            <a:r>
              <a:t>• System 1 NLP: </a:t>
            </a:r>
            <a:r>
              <a:rPr b="0">
                <a:solidFill>
                  <a:srgbClr val="64748B"/>
                </a:solidFill>
              </a:rPr>
              <a:t>23 tests covering FastEmbed ONNX token matching and damage quarantine.</a:t>
            </a:r>
          </a:p>
          <a:p>
            <a:pPr>
              <a:spcBef>
                <a:spcPts val="400"/>
              </a:spcBef>
              <a:defRPr b="1" sz="950"/>
            </a:pPr>
            <a:r>
              <a:t>• Stage 2 Suite: </a:t>
            </a:r>
            <a:r>
              <a:rPr b="0">
                <a:solidFill>
                  <a:srgbClr val="64748B"/>
                </a:solidFill>
              </a:rPr>
              <a:t>41 tests covering GEOS polygon IoP, zoom anti-inflation, and 33-class taxonomy.</a:t>
            </a:r>
          </a:p>
          <a:p>
            <a:pPr>
              <a:spcBef>
                <a:spcPts val="400"/>
              </a:spcBef>
              <a:defRPr b="1" sz="950"/>
            </a:pPr>
            <a:r>
              <a:t>• Stage 3 Suite: </a:t>
            </a:r>
            <a:r>
              <a:rPr b="0">
                <a:solidFill>
                  <a:srgbClr val="64748B"/>
                </a:solidFill>
              </a:rPr>
              <a:t>80 tests covering VLM adapters, circuit breakers, 8 contaminants, and rust fraud.</a:t>
            </a:r>
          </a:p>
          <a:p>
            <a:pPr>
              <a:spcBef>
                <a:spcPts val="400"/>
              </a:spcBef>
              <a:defRPr b="1" sz="950"/>
            </a:pPr>
            <a:r>
              <a:t>• Stage 4 Suite: </a:t>
            </a:r>
            <a:r>
              <a:rPr b="0">
                <a:solidFill>
                  <a:srgbClr val="64748B"/>
                </a:solidFill>
              </a:rPr>
              <a:t>102 tests covering all 8 IMT metal brackets, labor scaling, and NCB utility.</a:t>
            </a:r>
          </a:p>
          <a:p>
            <a:pPr>
              <a:spcBef>
                <a:spcPts val="400"/>
              </a:spcBef>
              <a:defRPr b="1" sz="950"/>
            </a:pPr>
            <a:r>
              <a:t>• Stage 5 &amp; 6 Suite: </a:t>
            </a:r>
            <a:r>
              <a:rPr b="0">
                <a:solidFill>
                  <a:srgbClr val="64748B"/>
                </a:solidFill>
              </a:rPr>
              <a:t>93 tests covering concession curves, HMAC signing, penny balancing, and APIs.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65176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83464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Adversarial Red-Team &amp; Real Video Cohort</a:t>
            </a:r>
          </a:p>
          <a:p>
            <a:pPr>
              <a:spcBef>
                <a:spcPts val="600"/>
              </a:spcBef>
              <a:defRPr b="1" sz="950"/>
            </a:pPr>
            <a:r>
              <a:t>✔ 11-Attack Red-Team Suite: </a:t>
            </a:r>
            <a:r>
              <a:rPr b="0">
                <a:solidFill>
                  <a:srgbClr val="64748B"/>
                </a:solidFill>
              </a:rPr>
              <a:t>Tests against 0-frame bypasses, scratch disk leaks, Redis lock TOCTOU races, CapCut metadata spoofing, and negative ROI coordinates.</a:t>
            </a:r>
          </a:p>
          <a:p>
            <a:pPr>
              <a:spcBef>
                <a:spcPts val="600"/>
              </a:spcBef>
              <a:defRPr b="1" sz="950"/>
            </a:pPr>
            <a:r>
              <a:t>✔ Authentic Video Cohort: </a:t>
            </a:r>
            <a:r>
              <a:rPr b="0">
                <a:solidFill>
                  <a:srgbClr val="64748B"/>
                </a:solidFill>
              </a:rPr>
              <a:t>car_videos/ directory pushed to GitHub containing 10 authentic walkaround videos and high-contrast macro damage photos for E2E validation.</a:t>
            </a:r>
          </a:p>
          <a:p>
            <a:pPr>
              <a:spcBef>
                <a:spcPts val="600"/>
              </a:spcBef>
              <a:defRPr b="1" sz="950"/>
            </a:pPr>
            <a:r>
              <a:t>✔ Hermetic In-Memory DB: </a:t>
            </a:r>
            <a:r>
              <a:rPr b="0">
                <a:solidFill>
                  <a:srgbClr val="64748B"/>
                </a:solidFill>
              </a:rPr>
              <a:t>FakeAsyncSession intercepts PostgreSQL queries in memory for sub-second deterministic test runs without external network dependencies.</a:t>
            </a:r>
          </a:p>
          <a:p>
            <a:pPr>
              <a:spcBef>
                <a:spcPts val="600"/>
              </a:spcBef>
              <a:defRPr b="1" sz="950"/>
            </a:pPr>
            <a:r>
              <a:t>✔ CI Quantitative Invariants: </a:t>
            </a:r>
            <a:r>
              <a:rPr b="0">
                <a:solidFill>
                  <a:srgbClr val="64748B"/>
                </a:solidFill>
              </a:rPr>
              <a:t>Enforces IoP error &lt;= 1.5%, zero false panel replacements on zoom, 100% SQL hit rate, and latency SLAs.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731520"/>
            <a:ext cx="10972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Technology Stack &amp; Production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233172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Core Backend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Python 3.11 / 3.12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Modern async runtime with type annotations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FastAPI 0.115+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High-performance async ASGI web framework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Pydantic v2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Strict DTO validation and JSON schema emission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Decimal Library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Statutory currency precision (zero float math)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828800"/>
            <a:ext cx="233172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01168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Database &amp; Messaging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PostgreSQL 16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Async SQLAlchemy 2.0 with GIN JSONB indexing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Redis 7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Distributed in-flight locks (SET NX EX) &amp; SSE events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Unrepaired Ledger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Partial unique indexes on (vin, part) for ESC-03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S3 / MinIO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Scratch video streaming &amp; keyframe persistence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33172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Computer Vision &amp; AI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Ultralytics YOLO11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YOLO11m-seg for vehicle &amp; damage segmentation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Shapely 2.0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C-GEOS spatial polygon intersection engine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FastEmbed ONNX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Local MiniLM-L6-v2 zero-latency intent embeddings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PySceneDetect &amp; OpenCV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Sub-100ms cut detection &amp; visual quality gates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1828800"/>
            <a:ext cx="233172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201168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VLM &amp; Document Engine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Google Gemini 2.5 Flash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Cloud VLM with strict JSON constrained decoding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Ollama miniCPM-V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Local offline VLM adapter with circuit breaker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HMAC-SHA256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Cryptographic signing of claimant offer cards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ReportLab 5.1</a:t>
            </a:r>
            <a:br/>
            <a:r>
              <a:rPr sz="900" b="0">
                <a:solidFill>
                  <a:srgbClr val="94A3B8"/>
                </a:solidFill>
                <a:latin typeface="Segoe UI"/>
              </a:rPr>
              <a:t>Vector PDF certificates and surveyor dossiers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